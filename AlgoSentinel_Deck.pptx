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060CFB2-35C7-4293-8CF0-B39BC3C2F78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FD21907-4AAF-4C3A-B756-FA508BC518B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D177E4E-48D0-4D0B-9329-45001D0D196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279F896-66F1-43D8-BBD4-2CEB2823253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70DC7E2-236B-46D7-89F4-8374D3E4F72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93D4E4A-0806-45DD-8A82-C1F69B48A07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B6DE9E6-8249-4E08-BCCD-C1FCFDCC88C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6E4FE67-490A-427D-BDB6-F702A0CFAF2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B3A638B-1C5B-42B6-A278-849E445BDAC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C604278-5BF0-4F6A-BFE4-71EF350F82F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08F614B-5865-47AB-BBAE-497A7DDFF87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ounded Rectangle 2"/>
          <p:cNvSpPr/>
          <p:nvPr/>
        </p:nvSpPr>
        <p:spPr>
          <a:xfrm>
            <a:off x="1371600" y="1097280"/>
            <a:ext cx="9448200" cy="4663080"/>
          </a:xfrm>
          <a:prstGeom prst="roundRect">
            <a:avLst>
              <a:gd name="adj" fmla="val 16667"/>
            </a:avLst>
          </a:prstGeom>
          <a:solidFill>
            <a:srgbClr val="131B2E"/>
          </a:solidFill>
          <a:ln w="19050">
            <a:solidFill>
              <a:srgbClr val="2634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Rounded Rectangle 3"/>
          <p:cNvSpPr/>
          <p:nvPr/>
        </p:nvSpPr>
        <p:spPr>
          <a:xfrm>
            <a:off x="4038120" y="1645920"/>
            <a:ext cx="4114440" cy="411120"/>
          </a:xfrm>
          <a:prstGeom prst="roundRect">
            <a:avLst>
              <a:gd name="adj" fmla="val 16667"/>
            </a:avLst>
          </a:prstGeom>
          <a:solidFill>
            <a:srgbClr val="102A3C"/>
          </a:solidFill>
          <a:ln w="12700">
            <a:solidFill>
              <a:srgbClr val="00E5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E5FF"/>
                </a:solidFill>
                <a:effectLst/>
                <a:uFillTx/>
                <a:latin typeface="Calibri"/>
              </a:rPr>
              <a:t>ALPACA AI TRADING AGENTS HACKATHON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1645920" y="2331720"/>
            <a:ext cx="88995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56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AlgoSentinel 🛡️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1645920" y="3566160"/>
            <a:ext cx="8899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0E5FF"/>
                </a:solidFill>
                <a:effectLst/>
                <a:uFillTx/>
                <a:latin typeface="Calibri"/>
              </a:rPr>
              <a:t>Autonomous AI-Powered Options Trading Agent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1645920" y="4389120"/>
            <a:ext cx="8899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Team AlgoSentinel</a:t>
            </a:r>
            <a:br>
              <a:rPr sz="1500"/>
            </a:b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Paper Trading Account  •  Real-Time News Sentiment  •  SPY Options Execution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822960" y="50292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E5FF"/>
                </a:solidFill>
                <a:effectLst/>
                <a:uFillTx/>
                <a:latin typeface="Calibri"/>
              </a:rPr>
              <a:t>🎯 MARKET CHALLENGE &amp; CORE INNOVATION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822960" y="82296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The Problem &amp; Our Solution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Rounded Rectangle 4"/>
          <p:cNvSpPr/>
          <p:nvPr/>
        </p:nvSpPr>
        <p:spPr>
          <a:xfrm>
            <a:off x="822960" y="1737360"/>
            <a:ext cx="5028840" cy="4480200"/>
          </a:xfrm>
          <a:prstGeom prst="roundRect">
            <a:avLst>
              <a:gd name="adj" fmla="val 16667"/>
            </a:avLst>
          </a:prstGeom>
          <a:solidFill>
            <a:srgbClr val="131B2E"/>
          </a:solidFill>
          <a:ln w="19050">
            <a:solidFill>
              <a:srgbClr val="7828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5760" tIns="320040" rIns="3657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6B6B"/>
                </a:solidFill>
                <a:effectLst/>
                <a:uFillTx/>
                <a:latin typeface="Calibri"/>
              </a:rPr>
              <a:t>⚠️  THE PROBLEM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2000"/>
            </a:br>
            <a:r>
              <a:rPr lang="en-US" sz="20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Most traders are emotional, biased, and slow.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600"/>
            </a:br>
            <a:r>
              <a:rPr lang="en-US" sz="1600" b="1" u="none" strike="noStrike">
                <a:solidFill>
                  <a:srgbClr val="FCA5A5"/>
                </a:solidFill>
                <a:effectLst/>
                <a:uFillTx/>
                <a:latin typeface="Calibri"/>
              </a:rPr>
              <a:t>Opportunities in market sentiment die in seconds.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300"/>
            </a:b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• Human reaction latency misses fast-moving market catalyst headlines.</a:t>
            </a:r>
            <a:br>
              <a:rPr sz="1300"/>
            </a:b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• Cognitive bias &amp; panic trading lead to broken discipline and blown accounts.</a:t>
            </a:r>
            <a:br>
              <a:rPr sz="1300"/>
            </a:b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• Manually screening options contracts, strikes, and ask prices takes too long.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Rounded Rectangle 5"/>
          <p:cNvSpPr/>
          <p:nvPr/>
        </p:nvSpPr>
        <p:spPr>
          <a:xfrm>
            <a:off x="6339600" y="1737360"/>
            <a:ext cx="5028840" cy="4480200"/>
          </a:xfrm>
          <a:prstGeom prst="roundRect">
            <a:avLst>
              <a:gd name="adj" fmla="val 16667"/>
            </a:avLst>
          </a:prstGeom>
          <a:solidFill>
            <a:srgbClr val="131B2E"/>
          </a:solidFill>
          <a:ln w="19050">
            <a:solidFill>
              <a:srgbClr val="1464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5760" tIns="320040" rIns="3657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E676"/>
                </a:solidFill>
                <a:effectLst/>
                <a:uFillTx/>
                <a:latin typeface="Calibri"/>
              </a:rPr>
              <a:t>⚡  OUR SOLUTION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500"/>
            </a:br>
            <a:r>
              <a:rPr lang="en-US" sz="15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→ AI reads live news in real-time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    Pulls S&amp;P 500 &amp; SPY RSS feeds every 15 minutes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500"/>
            </a:br>
            <a:r>
              <a:rPr lang="en-US" sz="15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→ Scores sentiment automatically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    Gemini AI parses tone, nuances, and macro implications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500"/>
            </a:br>
            <a:r>
              <a:rPr lang="en-US" sz="15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→ Executes trades instantly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    Direct Alpaca Trading API execution with optimal ATM strikes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500"/>
            </a:br>
            <a:r>
              <a:rPr lang="en-US" sz="15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→ No human delays. No emotion.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    Pure signal-driven trading governed by strict risk gates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2"/>
          <p:cNvSpPr/>
          <p:nvPr/>
        </p:nvSpPr>
        <p:spPr>
          <a:xfrm>
            <a:off x="822960" y="50292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E5FF"/>
                </a:solidFill>
                <a:effectLst/>
                <a:uFillTx/>
                <a:latin typeface="Calibri"/>
              </a:rPr>
              <a:t>🧠 AUTONOMOUS TRADING ARCHITECTURE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3"/>
          <p:cNvSpPr/>
          <p:nvPr/>
        </p:nvSpPr>
        <p:spPr>
          <a:xfrm>
            <a:off x="822960" y="82296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How It Works: End-to-End Pipeline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ounded Rectangle 4"/>
          <p:cNvSpPr/>
          <p:nvPr/>
        </p:nvSpPr>
        <p:spPr>
          <a:xfrm>
            <a:off x="822960" y="1737360"/>
            <a:ext cx="1627200" cy="3565800"/>
          </a:xfrm>
          <a:prstGeom prst="roundRect">
            <a:avLst>
              <a:gd name="adj" fmla="val 16667"/>
            </a:avLst>
          </a:prstGeom>
          <a:solidFill>
            <a:srgbClr val="131B2E"/>
          </a:solidFill>
          <a:ln w="19050">
            <a:solidFill>
              <a:srgbClr val="2634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64008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Google News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br>
              <a:rPr sz="1100"/>
            </a:b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Live SPY &amp; S&amp;P 500 macro headlines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Rounded Rectangle 5"/>
          <p:cNvSpPr/>
          <p:nvPr/>
        </p:nvSpPr>
        <p:spPr>
          <a:xfrm>
            <a:off x="960120" y="1920240"/>
            <a:ext cx="1352880" cy="319680"/>
          </a:xfrm>
          <a:prstGeom prst="roundRect">
            <a:avLst>
              <a:gd name="adj" fmla="val 16667"/>
            </a:avLst>
          </a:prstGeom>
          <a:solidFill>
            <a:srgbClr val="10192D"/>
          </a:solidFill>
          <a:ln w="12700">
            <a:solidFill>
              <a:srgbClr val="00E5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E5FF"/>
                </a:solidFill>
                <a:effectLst/>
                <a:uFillTx/>
                <a:latin typeface="Calibri"/>
              </a:rPr>
              <a:t>STEP 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Rounded Rectangle 6"/>
          <p:cNvSpPr/>
          <p:nvPr/>
        </p:nvSpPr>
        <p:spPr>
          <a:xfrm>
            <a:off x="2615040" y="1737360"/>
            <a:ext cx="1627200" cy="3565800"/>
          </a:xfrm>
          <a:prstGeom prst="roundRect">
            <a:avLst>
              <a:gd name="adj" fmla="val 16667"/>
            </a:avLst>
          </a:prstGeom>
          <a:solidFill>
            <a:srgbClr val="131B2E"/>
          </a:solidFill>
          <a:ln w="19050">
            <a:solidFill>
              <a:srgbClr val="2634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64008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Gemini AI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br>
              <a:rPr sz="1100"/>
            </a:b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Scored BULLISH / BEARISH / NEUTRAL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Rounded Rectangle 7"/>
          <p:cNvSpPr/>
          <p:nvPr/>
        </p:nvSpPr>
        <p:spPr>
          <a:xfrm>
            <a:off x="2752200" y="1920240"/>
            <a:ext cx="1352880" cy="319680"/>
          </a:xfrm>
          <a:prstGeom prst="roundRect">
            <a:avLst>
              <a:gd name="adj" fmla="val 16667"/>
            </a:avLst>
          </a:prstGeom>
          <a:solidFill>
            <a:srgbClr val="10192D"/>
          </a:solidFill>
          <a:ln w="12700">
            <a:solidFill>
              <a:srgbClr val="A855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A855F7"/>
                </a:solidFill>
                <a:effectLst/>
                <a:uFillTx/>
                <a:latin typeface="Calibri"/>
              </a:rPr>
              <a:t>STEP 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Rounded Rectangle 8"/>
          <p:cNvSpPr/>
          <p:nvPr/>
        </p:nvSpPr>
        <p:spPr>
          <a:xfrm>
            <a:off x="4407480" y="1737360"/>
            <a:ext cx="1627200" cy="3565800"/>
          </a:xfrm>
          <a:prstGeom prst="roundRect">
            <a:avLst>
              <a:gd name="adj" fmla="val 16667"/>
            </a:avLst>
          </a:prstGeom>
          <a:solidFill>
            <a:srgbClr val="131B2E"/>
          </a:solidFill>
          <a:ln w="19050">
            <a:solidFill>
              <a:srgbClr val="2634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64008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Risk Gates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br>
              <a:rPr sz="1100"/>
            </a:b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5 safety checks (Floor, budget, pos limits)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Rounded Rectangle 9"/>
          <p:cNvSpPr/>
          <p:nvPr/>
        </p:nvSpPr>
        <p:spPr>
          <a:xfrm>
            <a:off x="4544640" y="1920240"/>
            <a:ext cx="1352880" cy="319680"/>
          </a:xfrm>
          <a:prstGeom prst="roundRect">
            <a:avLst>
              <a:gd name="adj" fmla="val 16667"/>
            </a:avLst>
          </a:prstGeom>
          <a:solidFill>
            <a:srgbClr val="10192D"/>
          </a:solidFill>
          <a:ln w="12700">
            <a:solidFill>
              <a:srgbClr val="FFB3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B300"/>
                </a:solidFill>
                <a:effectLst/>
                <a:uFillTx/>
                <a:latin typeface="Calibri"/>
              </a:rPr>
              <a:t>STEP 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Rounded Rectangle 10"/>
          <p:cNvSpPr/>
          <p:nvPr/>
        </p:nvSpPr>
        <p:spPr>
          <a:xfrm>
            <a:off x="6199560" y="1737360"/>
            <a:ext cx="1627200" cy="3565800"/>
          </a:xfrm>
          <a:prstGeom prst="roundRect">
            <a:avLst>
              <a:gd name="adj" fmla="val 16667"/>
            </a:avLst>
          </a:prstGeom>
          <a:solidFill>
            <a:srgbClr val="131B2E"/>
          </a:solidFill>
          <a:ln w="19050">
            <a:solidFill>
              <a:srgbClr val="2634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64008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SPY Options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br>
              <a:rPr sz="1100"/>
            </a:b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ATM contract selection with live quotes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Rounded Rectangle 11"/>
          <p:cNvSpPr/>
          <p:nvPr/>
        </p:nvSpPr>
        <p:spPr>
          <a:xfrm>
            <a:off x="6336720" y="1920240"/>
            <a:ext cx="1352880" cy="319680"/>
          </a:xfrm>
          <a:prstGeom prst="roundRect">
            <a:avLst>
              <a:gd name="adj" fmla="val 16667"/>
            </a:avLst>
          </a:prstGeom>
          <a:solidFill>
            <a:srgbClr val="10192D"/>
          </a:solidFill>
          <a:ln w="12700">
            <a:solidFill>
              <a:srgbClr val="00E5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E5FF"/>
                </a:solidFill>
                <a:effectLst/>
                <a:uFillTx/>
                <a:latin typeface="Calibri"/>
              </a:rPr>
              <a:t>STEP 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Rounded Rectangle 12"/>
          <p:cNvSpPr/>
          <p:nvPr/>
        </p:nvSpPr>
        <p:spPr>
          <a:xfrm>
            <a:off x="7992000" y="1737360"/>
            <a:ext cx="1627200" cy="3565800"/>
          </a:xfrm>
          <a:prstGeom prst="roundRect">
            <a:avLst>
              <a:gd name="adj" fmla="val 16667"/>
            </a:avLst>
          </a:prstGeom>
          <a:solidFill>
            <a:srgbClr val="131B2E"/>
          </a:solidFill>
          <a:ln w="19050">
            <a:solidFill>
              <a:srgbClr val="2634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64008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Alpaca API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br>
              <a:rPr sz="1100"/>
            </a:b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Market order placement &amp; live tracking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Rounded Rectangle 13"/>
          <p:cNvSpPr/>
          <p:nvPr/>
        </p:nvSpPr>
        <p:spPr>
          <a:xfrm>
            <a:off x="8129160" y="1920240"/>
            <a:ext cx="1352880" cy="319680"/>
          </a:xfrm>
          <a:prstGeom prst="roundRect">
            <a:avLst>
              <a:gd name="adj" fmla="val 16667"/>
            </a:avLst>
          </a:prstGeom>
          <a:solidFill>
            <a:srgbClr val="10192D"/>
          </a:solidFill>
          <a:ln w="12700">
            <a:solidFill>
              <a:srgbClr val="38BD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STEP 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14"/>
          <p:cNvSpPr/>
          <p:nvPr/>
        </p:nvSpPr>
        <p:spPr>
          <a:xfrm>
            <a:off x="9784080" y="1737360"/>
            <a:ext cx="1627200" cy="3565800"/>
          </a:xfrm>
          <a:prstGeom prst="roundRect">
            <a:avLst>
              <a:gd name="adj" fmla="val 16667"/>
            </a:avLst>
          </a:prstGeom>
          <a:solidFill>
            <a:srgbClr val="131B2E"/>
          </a:solidFill>
          <a:ln w="19050">
            <a:solidFill>
              <a:srgbClr val="2634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640080" r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✅ Execution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br>
              <a:rPr sz="1100"/>
            </a:b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Position auto-managed (50% SL / 100% TP)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Rounded Rectangle 15"/>
          <p:cNvSpPr/>
          <p:nvPr/>
        </p:nvSpPr>
        <p:spPr>
          <a:xfrm>
            <a:off x="9921240" y="1920240"/>
            <a:ext cx="1352880" cy="319680"/>
          </a:xfrm>
          <a:prstGeom prst="roundRect">
            <a:avLst>
              <a:gd name="adj" fmla="val 16667"/>
            </a:avLst>
          </a:prstGeom>
          <a:solidFill>
            <a:srgbClr val="10192D"/>
          </a:solidFill>
          <a:ln w="12700">
            <a:solidFill>
              <a:srgbClr val="00E67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E676"/>
                </a:solidFill>
                <a:effectLst/>
                <a:uFillTx/>
                <a:latin typeface="Calibri"/>
              </a:rPr>
              <a:t>STEP 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Rounded Rectangle 16"/>
          <p:cNvSpPr/>
          <p:nvPr/>
        </p:nvSpPr>
        <p:spPr>
          <a:xfrm>
            <a:off x="822960" y="5577840"/>
            <a:ext cx="10545480" cy="639720"/>
          </a:xfrm>
          <a:prstGeom prst="roundRect">
            <a:avLst>
              <a:gd name="adj" fmla="val 16667"/>
            </a:avLst>
          </a:prstGeom>
          <a:solidFill>
            <a:srgbClr val="122036"/>
          </a:solidFill>
          <a:ln w="12700">
            <a:solidFill>
              <a:srgbClr val="00E5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E5FF"/>
                </a:solidFill>
                <a:effectLst/>
                <a:uFillTx/>
                <a:latin typeface="Calibri"/>
              </a:rPr>
              <a:t>⚡  Every 15 minutes. Fully autonomous. Zero human intervention needed.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2"/>
          <p:cNvSpPr/>
          <p:nvPr/>
        </p:nvSpPr>
        <p:spPr>
          <a:xfrm>
            <a:off x="822960" y="50292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E676"/>
                </a:solidFill>
                <a:effectLst/>
                <a:uFillTx/>
                <a:latin typeface="Calibri"/>
              </a:rPr>
              <a:t>📊 RESULTS, RIGOR &amp; IMPACT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3"/>
          <p:cNvSpPr/>
          <p:nvPr/>
        </p:nvSpPr>
        <p:spPr>
          <a:xfrm>
            <a:off x="822960" y="82296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Why It Matters: Institutional Discipline for AI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ounded Rectangle 4"/>
          <p:cNvSpPr/>
          <p:nvPr/>
        </p:nvSpPr>
        <p:spPr>
          <a:xfrm>
            <a:off x="822960" y="1737360"/>
            <a:ext cx="3328200" cy="3977280"/>
          </a:xfrm>
          <a:prstGeom prst="roundRect">
            <a:avLst>
              <a:gd name="adj" fmla="val 16667"/>
            </a:avLst>
          </a:prstGeom>
          <a:solidFill>
            <a:srgbClr val="131B2E"/>
          </a:solidFill>
          <a:ln w="19050">
            <a:solidFill>
              <a:srgbClr val="2634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274320" rIns="2743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E5FF"/>
                </a:solidFill>
                <a:effectLst/>
                <a:uFillTx/>
                <a:latin typeface="Calibri"/>
              </a:rPr>
              <a:t>🤖 AUTONOMOUS &amp; AI-DRIVEN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400"/>
            </a:br>
            <a:r>
              <a:rPr lang="en-US" sz="14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• Zero Human Latency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   Runs every 15 mins during market hours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400"/>
            </a:br>
            <a:r>
              <a:rPr lang="en-US" sz="14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• Gemini Sentiment Engine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   Gemini scores sentiment &amp; drives decisions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400"/>
            </a:br>
            <a:r>
              <a:rPr lang="en-US" sz="14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• Complete Audit Trail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   Every trade and skip logged to trades.log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Rounded Rectangle 5"/>
          <p:cNvSpPr/>
          <p:nvPr/>
        </p:nvSpPr>
        <p:spPr>
          <a:xfrm>
            <a:off x="8229600" y="1737720"/>
            <a:ext cx="3328200" cy="3977280"/>
          </a:xfrm>
          <a:prstGeom prst="roundRect">
            <a:avLst>
              <a:gd name="adj" fmla="val 16667"/>
            </a:avLst>
          </a:prstGeom>
          <a:solidFill>
            <a:srgbClr val="131B2E"/>
          </a:solidFill>
          <a:ln w="19050">
            <a:solidFill>
              <a:srgbClr val="FFB3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274320" rIns="2743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B300"/>
                </a:solidFill>
                <a:effectLst/>
                <a:uFillTx/>
                <a:latin typeface="Calibri"/>
              </a:rPr>
              <a:t>🛡️ 5-TIER RISK MANAGEMENT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300"/>
            </a:b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✓ Equity Floor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   $85k minimum capital floor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300"/>
            </a:b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✓ Max 3 Positions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   Strict limit on simultaneous exposure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300"/>
            </a:b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✓ 5% Per-Trade Cap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   Max budget per individual contract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300"/>
            </a:b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✓ Confidence Filter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   Only trade if signal confidence ≥ 60%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300"/>
            </a:b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✓ Market Hours Only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   Active 9:30 AM – 4:00 PM ET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6"/>
          <p:cNvSpPr/>
          <p:nvPr/>
        </p:nvSpPr>
        <p:spPr>
          <a:xfrm>
            <a:off x="4444200" y="1737720"/>
            <a:ext cx="3328200" cy="3977280"/>
          </a:xfrm>
          <a:prstGeom prst="roundRect">
            <a:avLst>
              <a:gd name="adj" fmla="val 16667"/>
            </a:avLst>
          </a:prstGeom>
          <a:solidFill>
            <a:srgbClr val="131B2E"/>
          </a:solidFill>
          <a:ln w="19050">
            <a:solidFill>
              <a:srgbClr val="2634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274320" rIns="2743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E676"/>
                </a:solidFill>
                <a:effectLst/>
                <a:uFillTx/>
                <a:latin typeface="Calibri"/>
              </a:rPr>
              <a:t>📈 EXECUTION &amp; RESULTS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400"/>
            </a:br>
            <a:r>
              <a:rPr lang="en-US" sz="14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• Fresh $100k Paper Account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   Live paper trading via Alpaca API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400"/>
            </a:br>
            <a:r>
              <a:rPr lang="en-US" sz="14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• Intelligent Position Exits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   -50% Stop-loss &amp; +100% Take-profit protection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400"/>
            </a:br>
            <a:r>
              <a:rPr lang="en-US" sz="14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• Hackathon Stack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E5FF"/>
                </a:solidFill>
                <a:effectLst/>
                <a:uFillTx/>
                <a:latin typeface="Calibri"/>
              </a:rPr>
              <a:t>   Alpaca Trading API • Google Gemini • Python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Rounded Rectangle 7"/>
          <p:cNvSpPr/>
          <p:nvPr/>
        </p:nvSpPr>
        <p:spPr>
          <a:xfrm>
            <a:off x="822960" y="5943600"/>
            <a:ext cx="10545480" cy="456840"/>
          </a:xfrm>
          <a:prstGeom prst="roundRect">
            <a:avLst>
              <a:gd name="adj" fmla="val 16667"/>
            </a:avLst>
          </a:prstGeom>
          <a:solidFill>
            <a:srgbClr val="0F1E30"/>
          </a:solidFill>
          <a:ln w="12700">
            <a:solidFill>
              <a:srgbClr val="2634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Built on Alpaca Trading API + Google Gemini  •  Paper Trading: $100k Account  •  lablab.ai Hackathon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LibreOffice/26.2.4.2$Linux_X86_64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2026-09-04T18:40:47Z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