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37990" y="1645920"/>
            <a:ext cx="4114800" cy="411480"/>
          </a:xfrm>
          <a:prstGeom prst="roundRect">
            <a:avLst/>
          </a:prstGeom>
          <a:solidFill>
            <a:srgbClr val="102A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  <a:latin typeface="Calibri"/>
              </a:defRPr>
            </a:pPr>
            <a:r>
              <a:t>ALPACA AI TRADING AGENTS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331720"/>
            <a:ext cx="88998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8FAFC"/>
                </a:solidFill>
                <a:latin typeface="Calibri"/>
              </a:defRPr>
            </a:pPr>
            <a:r>
              <a:t>AlgoSentinel 🛡️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566160"/>
            <a:ext cx="8899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5FF"/>
                </a:solidFill>
                <a:latin typeface="Calibri"/>
              </a:defRPr>
            </a:pPr>
            <a:r>
              <a:t>Autonomous AI-Powered Options Trading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4389120"/>
            <a:ext cx="8899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94A3B8"/>
                </a:solidFill>
                <a:latin typeface="Calibri"/>
              </a:defRPr>
            </a:pPr>
            <a:r>
              <a:t>Team AlgoSentinel</a:t>
            </a:r>
            <a:br/>
            <a:r>
              <a:t>Paper Trading Account  •  Real-Time News Sentiment  •  SPY Options Execution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Calibri"/>
              </a:defRPr>
            </a:pPr>
            <a:r>
              <a:t>🎯 MARKET CHALLENGE &amp; 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alibri"/>
              </a:defRPr>
            </a:pPr>
            <a:r>
              <a:t>The Problem &amp; Our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29200" cy="4480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78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0040" rIns="365760"/>
          <a:lstStyle/>
          <a:p>
            <a:pPr algn="ctr">
              <a:defRPr sz="1400" b="1">
                <a:solidFill>
                  <a:srgbClr val="FF6B6B"/>
                </a:solidFill>
              </a:defRPr>
            </a:pPr>
            <a:r>
              <a:t>⚠️  THE PROBLEM</a:t>
            </a:r>
          </a:p>
          <a:p>
            <a:br/>
            <a:pPr>
              <a:defRPr sz="2000" b="1">
                <a:solidFill>
                  <a:srgbClr val="F8FAFC"/>
                </a:solidFill>
              </a:defRPr>
            </a:pPr>
            <a:r>
              <a:t>Most traders are emotional, biased, and slow.</a:t>
            </a:r>
          </a:p>
          <a:p>
            <a:br/>
            <a:pPr>
              <a:defRPr sz="1600" b="1">
                <a:solidFill>
                  <a:srgbClr val="FCA5A5"/>
                </a:solidFill>
              </a:defRPr>
            </a:pPr>
            <a:r>
              <a:t>Opportunities in market sentiment die in seconds.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• Human reaction latency misses fast-moving market catalyst headlines.</a:t>
            </a:r>
            <a:br/>
            <a:r>
              <a:t>• Cognitive bias &amp; panic trading lead to broken discipline and blown accounts.</a:t>
            </a:r>
            <a:br/>
            <a:r>
              <a:t>• Manually screening options contracts, strikes, and ask prices takes too long.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737360"/>
            <a:ext cx="5029200" cy="4480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4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0040" rIns="365760"/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⚡  OUR SOLUTION</a:t>
            </a:r>
          </a:p>
          <a:p>
            <a:br/>
            <a:pPr>
              <a:defRPr sz="1500" b="1">
                <a:solidFill>
                  <a:srgbClr val="F8FAFC"/>
                </a:solidFill>
              </a:defRPr>
            </a:pPr>
            <a:r>
              <a:t>→ AI reads live news in real-time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Pulls S&amp;P 500 &amp; SPY RSS feeds every 15 minutes</a:t>
            </a:r>
          </a:p>
          <a:p>
            <a:br/>
            <a:pPr>
              <a:defRPr sz="1500" b="1">
                <a:solidFill>
                  <a:srgbClr val="F8FAFC"/>
                </a:solidFill>
              </a:defRPr>
            </a:pPr>
            <a:r>
              <a:t>→ Scores sentiment automatically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Gemini AI parses tone, nuances, and macro implications</a:t>
            </a:r>
          </a:p>
          <a:p>
            <a:br/>
            <a:pPr>
              <a:defRPr sz="1500" b="1">
                <a:solidFill>
                  <a:srgbClr val="F8FAFC"/>
                </a:solidFill>
              </a:defRPr>
            </a:pPr>
            <a:r>
              <a:t>→ Executes trades instantly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Direct Alpaca Trading API execution with optimal ATM strikes</a:t>
            </a:r>
          </a:p>
          <a:p>
            <a:br/>
            <a:pPr>
              <a:defRPr sz="1500" b="1">
                <a:solidFill>
                  <a:srgbClr val="F8FAFC"/>
                </a:solidFill>
              </a:defRPr>
            </a:pPr>
            <a:r>
              <a:t>→ No human delays. No emotion.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Pure signal-driven trading governed by strict risk gates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Calibri"/>
              </a:defRPr>
            </a:pPr>
            <a:r>
              <a:t>🧠 AUTONOMOUS TRADING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alibri"/>
              </a:defRPr>
            </a:pPr>
            <a:r>
              <a:t>How It Works: End-to-End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627632" cy="35661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0" lIns="109728" rIns="109728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Google News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br/>
            <a:r>
              <a:t>Live SPY &amp; S&amp;P 500 macro headlines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920240"/>
            <a:ext cx="1353312" cy="32004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STEP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5184" y="1737360"/>
            <a:ext cx="1627632" cy="35661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0" lIns="109728" rIns="109728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Gemini AI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br/>
            <a:r>
              <a:t>Scored BULLISH / BEARISH / NEUTRAL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353312" cy="32004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855F7"/>
                </a:solidFill>
              </a:defRPr>
            </a:pPr>
            <a:r>
              <a:t>STEP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37360"/>
            <a:ext cx="1627632" cy="35661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0" lIns="109728" rIns="109728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Risk Gates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br/>
            <a:r>
              <a:t>5 safety checks (Floor, budget, pos limits)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1920240"/>
            <a:ext cx="1353312" cy="32004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B300"/>
                </a:solidFill>
              </a:defRPr>
            </a:pPr>
            <a:r>
              <a:t>STEP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37360"/>
            <a:ext cx="1627632" cy="35661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0" lIns="109728" rIns="109728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SPY Options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br/>
            <a:r>
              <a:t>ATM contract selection with live quotes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1920240"/>
            <a:ext cx="1353312" cy="32004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STEP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1627632" cy="35661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0" lIns="109728" rIns="109728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Alpaca API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br/>
            <a:r>
              <a:t>Market order placement &amp; live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920240"/>
            <a:ext cx="1353312" cy="32004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STEP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737360"/>
            <a:ext cx="1627632" cy="35661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0" lIns="109728" rIns="109728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✅ Execution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br/>
            <a:r>
              <a:t>Position auto-managed (50% SL / 100% TP)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21240" y="1920240"/>
            <a:ext cx="1353312" cy="32004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676"/>
                </a:solidFill>
              </a:defRPr>
            </a:pPr>
            <a:r>
              <a:t>STEP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77840"/>
            <a:ext cx="10545775" cy="640080"/>
          </a:xfrm>
          <a:prstGeom prst="roundRect">
            <a:avLst/>
          </a:prstGeom>
          <a:solidFill>
            <a:srgbClr val="12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E5FF"/>
                </a:solidFill>
              </a:defRPr>
            </a:pPr>
            <a:r>
              <a:t>⚡  Every 15 minutes. Fully autonomous. Zero human intervention needed.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E676"/>
                </a:solidFill>
                <a:latin typeface="Calibri"/>
              </a:defRPr>
            </a:pPr>
            <a:r>
              <a:t>📊 RESULTS, RIGOR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alibri"/>
              </a:defRPr>
            </a:pPr>
            <a:r>
              <a:t>Why It Matters: Institutional Discipline for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328416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00E5FF"/>
                </a:solidFill>
              </a:defRPr>
            </a:pPr>
            <a:r>
              <a:t>🤖 AUTONOMOUS &amp; AI-DRIVEN</a:t>
            </a:r>
          </a:p>
          <a:p>
            <a:br/>
            <a:pPr>
              <a:defRPr sz="1400" b="1">
                <a:solidFill>
                  <a:srgbClr val="F8FAFC"/>
                </a:solidFill>
              </a:defRPr>
            </a:pPr>
            <a:r>
              <a:t>• Zero Human Latency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Runs every 15 mins during market hours</a:t>
            </a:r>
          </a:p>
          <a:p>
            <a:br/>
            <a:pPr>
              <a:defRPr sz="1400" b="1">
                <a:solidFill>
                  <a:srgbClr val="F8FAFC"/>
                </a:solidFill>
              </a:defRPr>
            </a:pPr>
            <a:r>
              <a:t>• Gemini Sentiment Engine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Gemini scores sentiment &amp; drives decisions</a:t>
            </a:r>
          </a:p>
          <a:p>
            <a:br/>
            <a:pPr>
              <a:defRPr sz="1400" b="1">
                <a:solidFill>
                  <a:srgbClr val="F8FAFC"/>
                </a:solidFill>
              </a:defRPr>
            </a:pPr>
            <a:r>
              <a:t>• Complete Audit Trail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Every trade and skip logged to trades.log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4342621360" y="1737360"/>
            <a:ext cx="3328416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FFB300"/>
                </a:solidFill>
              </a:defRPr>
            </a:pPr>
            <a:r>
              <a:t>🛡️ 5-TIER RISK MANAGEMENT</a:t>
            </a:r>
          </a:p>
          <a:p>
            <a:br/>
            <a:pPr>
              <a:defRPr sz="1300" b="1">
                <a:solidFill>
                  <a:srgbClr val="F8FAFC"/>
                </a:solidFill>
              </a:defRPr>
            </a:pPr>
            <a:r>
              <a:t>✓ Equity Floor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$85k minimum capital floor</a:t>
            </a:r>
          </a:p>
          <a:p>
            <a:br/>
            <a:pPr>
              <a:defRPr sz="1300" b="1">
                <a:solidFill>
                  <a:srgbClr val="F8FAFC"/>
                </a:solidFill>
              </a:defRPr>
            </a:pPr>
            <a:r>
              <a:t>✓ Max 3 Positions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Strict limit on simultaneous exposure</a:t>
            </a:r>
          </a:p>
          <a:p>
            <a:br/>
            <a:pPr>
              <a:defRPr sz="1300" b="1">
                <a:solidFill>
                  <a:srgbClr val="F8FAFC"/>
                </a:solidFill>
              </a:defRPr>
            </a:pPr>
            <a:r>
              <a:t>✓ 5% Per-Trade Cap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Max budget per individual contract</a:t>
            </a:r>
          </a:p>
          <a:p>
            <a:br/>
            <a:pPr>
              <a:defRPr sz="1300" b="1">
                <a:solidFill>
                  <a:srgbClr val="F8FAFC"/>
                </a:solidFill>
              </a:defRPr>
            </a:pPr>
            <a:r>
              <a:t>✓ Confidence Filter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Only trade if signal confidence ≥ 60%</a:t>
            </a:r>
          </a:p>
          <a:p>
            <a:br/>
            <a:pPr>
              <a:defRPr sz="1300" b="1">
                <a:solidFill>
                  <a:srgbClr val="F8FAFC"/>
                </a:solidFill>
              </a:defRPr>
            </a:pPr>
            <a:r>
              <a:t>✓ Market Hours Only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Active 9:30 AM – 4:00 PM 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8684419760" y="1737360"/>
            <a:ext cx="3328416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00E676"/>
                </a:solidFill>
              </a:defRPr>
            </a:pPr>
            <a:r>
              <a:t>📈 EXECUTION &amp; RESULTS</a:t>
            </a:r>
          </a:p>
          <a:p>
            <a:br/>
            <a:pPr>
              <a:defRPr sz="1400" b="1">
                <a:solidFill>
                  <a:srgbClr val="F8FAFC"/>
                </a:solidFill>
              </a:defRPr>
            </a:pPr>
            <a:r>
              <a:t>• Fresh $100k Paper Account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Live paper trading via Alpaca API</a:t>
            </a:r>
          </a:p>
          <a:p>
            <a:br/>
            <a:pPr>
              <a:defRPr sz="1400" b="1">
                <a:solidFill>
                  <a:srgbClr val="F8FAFC"/>
                </a:solidFill>
              </a:defRPr>
            </a:pPr>
            <a:r>
              <a:t>• Intelligent Position Exits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-50% Stop-loss &amp; +100% Take-profit protection</a:t>
            </a:r>
          </a:p>
          <a:p>
            <a:br/>
            <a:pPr>
              <a:defRPr sz="1400" b="1">
                <a:solidFill>
                  <a:srgbClr val="F8FAFC"/>
                </a:solidFill>
              </a:defRPr>
            </a:pPr>
            <a:r>
              <a:t>• Hackathon Stack</a:t>
            </a:r>
          </a:p>
          <a:p>
            <a:pPr>
              <a:defRPr sz="1200">
                <a:solidFill>
                  <a:srgbClr val="00E5FF"/>
                </a:solidFill>
              </a:defRPr>
            </a:pPr>
            <a:r>
              <a:t>   Alpaca Trading API • Google Gemini • Python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943600"/>
            <a:ext cx="10545775" cy="457200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Built on Alpaca Trading API + Google Gemini  •  Paper Trading: $100k Account  •  lablab.ai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